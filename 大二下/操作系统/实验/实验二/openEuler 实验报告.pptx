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7" d="100"/>
          <a:sy n="137" d="100"/>
        </p:scale>
        <p:origin x="1818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9249" y="330200"/>
            <a:ext cx="139700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9249" y="1692275"/>
            <a:ext cx="6369050" cy="3596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csdn.net/qq_45945548/article/details/12052023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249" y="673100"/>
            <a:ext cx="32264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OpenEuler </a:t>
            </a:r>
            <a:r>
              <a:rPr spc="-15" dirty="0"/>
              <a:t>实验报告</a:t>
            </a:r>
          </a:p>
        </p:txBody>
      </p:sp>
      <p:sp>
        <p:nvSpPr>
          <p:cNvPr id="3" name="object 3"/>
          <p:cNvSpPr/>
          <p:nvPr/>
        </p:nvSpPr>
        <p:spPr>
          <a:xfrm>
            <a:off x="514349" y="1981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9149" y="22193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70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2"/>
                </a:lnTo>
                <a:lnTo>
                  <a:pt x="32925" y="45812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1812" y="32924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04" y="17617"/>
                </a:lnTo>
                <a:lnTo>
                  <a:pt x="1812" y="14699"/>
                </a:lnTo>
                <a:lnTo>
                  <a:pt x="3021" y="11782"/>
                </a:lnTo>
                <a:lnTo>
                  <a:pt x="4741" y="9207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1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7"/>
                </a:lnTo>
                <a:lnTo>
                  <a:pt x="44603" y="11782"/>
                </a:lnTo>
                <a:lnTo>
                  <a:pt x="45812" y="14699"/>
                </a:lnTo>
                <a:lnTo>
                  <a:pt x="47020" y="17617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3949" y="24669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9249" y="1416050"/>
            <a:ext cx="3768725" cy="1160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latin typeface="微软雅黑"/>
                <a:cs typeface="微软雅黑"/>
              </a:rPr>
              <a:t>实验步骤</a:t>
            </a:r>
            <a:endParaRPr sz="1800">
              <a:latin typeface="微软雅黑"/>
              <a:cs typeface="微软雅黑"/>
            </a:endParaRPr>
          </a:p>
          <a:p>
            <a:pPr marL="621665" marR="5080" indent="-304800">
              <a:lnSpc>
                <a:spcPct val="130200"/>
              </a:lnSpc>
              <a:spcBef>
                <a:spcPts val="108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用虚拟机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VMware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微软雅黑"/>
                <a:cs typeface="微软雅黑"/>
              </a:rPr>
              <a:t>完成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OpenEuler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操作系统的安装</a:t>
            </a: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安装</a:t>
            </a:r>
            <a:endParaRPr sz="1200">
              <a:latin typeface="微软雅黑"/>
              <a:cs typeface="微软雅黑"/>
            </a:endParaRPr>
          </a:p>
          <a:p>
            <a:pPr marL="926465">
              <a:lnSpc>
                <a:spcPct val="100000"/>
              </a:lnSpc>
              <a:spcBef>
                <a:spcPts val="509"/>
              </a:spcBef>
            </a:pPr>
            <a:r>
              <a:rPr sz="1200" spc="-15" dirty="0">
                <a:solidFill>
                  <a:srgbClr val="333333"/>
                </a:solidFill>
                <a:latin typeface="微软雅黑"/>
                <a:cs typeface="微软雅黑"/>
              </a:rPr>
              <a:t>在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VMware </a:t>
            </a: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中新建虚拟机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65531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23949" y="70199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3649" y="6921500"/>
            <a:ext cx="1372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333333"/>
                </a:solidFill>
                <a:latin typeface="微软雅黑"/>
                <a:cs typeface="微软雅黑"/>
              </a:rPr>
              <a:t>选择下载的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iso </a:t>
            </a: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文件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4752974" cy="41243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23949" y="45910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3649" y="4492625"/>
            <a:ext cx="575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7CC"/>
                </a:solidFill>
                <a:latin typeface="微软雅黑"/>
                <a:cs typeface="微软雅黑"/>
                <a:hlinkClick r:id="rId3"/>
              </a:rPr>
              <a:t>查询资料</a:t>
            </a: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得知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OpenEuler 20.03</a:t>
            </a:r>
            <a:r>
              <a:rPr sz="120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LTS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30" dirty="0">
                <a:solidFill>
                  <a:srgbClr val="333333"/>
                </a:solidFill>
                <a:latin typeface="微软雅黑"/>
                <a:cs typeface="微软雅黑"/>
              </a:rPr>
              <a:t>在虚拟机安装时应选择 </a:t>
            </a:r>
            <a:r>
              <a:rPr sz="1000" spc="50" dirty="0">
                <a:latin typeface="新宋体"/>
                <a:cs typeface="新宋体"/>
              </a:rPr>
              <a:t>其他</a:t>
            </a:r>
            <a:r>
              <a:rPr sz="1000" dirty="0">
                <a:latin typeface="Consolas"/>
                <a:cs typeface="Consolas"/>
              </a:rPr>
              <a:t>Linux</a:t>
            </a:r>
            <a:r>
              <a:rPr sz="1000" spc="1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4.x</a:t>
            </a:r>
            <a:r>
              <a:rPr sz="1000" spc="15" dirty="0">
                <a:latin typeface="Consolas"/>
                <a:cs typeface="Consolas"/>
              </a:rPr>
              <a:t> </a:t>
            </a:r>
            <a:r>
              <a:rPr sz="1000" spc="45" dirty="0">
                <a:latin typeface="新宋体"/>
                <a:cs typeface="新宋体"/>
              </a:rPr>
              <a:t>内核 </a:t>
            </a:r>
            <a:r>
              <a:rPr sz="1000" dirty="0">
                <a:latin typeface="Consolas"/>
                <a:cs typeface="Consolas"/>
              </a:rPr>
              <a:t>64</a:t>
            </a:r>
            <a:r>
              <a:rPr sz="1000" spc="10" dirty="0">
                <a:latin typeface="Consolas"/>
                <a:cs typeface="Consolas"/>
              </a:rPr>
              <a:t> </a:t>
            </a:r>
            <a:r>
              <a:rPr sz="1000" spc="-50" dirty="0">
                <a:latin typeface="新宋体"/>
                <a:cs typeface="新宋体"/>
              </a:rPr>
              <a:t>位</a:t>
            </a:r>
            <a:endParaRPr sz="1000">
              <a:latin typeface="新宋体"/>
              <a:cs typeface="新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4752974" cy="41243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23949" y="45910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3649" y="4492625"/>
            <a:ext cx="3302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其他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VMware </a:t>
            </a: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参数选择默认参数 成功添加虚拟机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65531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23949" y="70199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3649" y="6921500"/>
            <a:ext cx="1744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启动虚拟机 等待系统安装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68398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1333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23949" y="6000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3649" y="501650"/>
            <a:ext cx="1693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设置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Root </a:t>
            </a:r>
            <a:r>
              <a:rPr sz="1200" spc="-20" dirty="0">
                <a:solidFill>
                  <a:srgbClr val="333333"/>
                </a:solidFill>
                <a:latin typeface="微软雅黑"/>
                <a:cs typeface="微软雅黑"/>
              </a:rPr>
              <a:t>密码 创建用户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68398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68398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1333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23949" y="6000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3649" y="501650"/>
            <a:ext cx="1439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安装完毕 重启虚拟机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68398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1333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23949" y="6000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3649" y="501650"/>
            <a:ext cx="2341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20" dirty="0">
                <a:solidFill>
                  <a:srgbClr val="333333"/>
                </a:solidFill>
                <a:latin typeface="微软雅黑"/>
                <a:cs typeface="微软雅黑"/>
              </a:rPr>
              <a:t>登入 </a:t>
            </a:r>
            <a:r>
              <a:rPr sz="1000" dirty="0">
                <a:latin typeface="Consolas"/>
                <a:cs typeface="Consolas"/>
              </a:rPr>
              <a:t>bupt-os-</a:t>
            </a:r>
            <a:r>
              <a:rPr sz="1000" spc="-10" dirty="0">
                <a:latin typeface="Consolas"/>
                <a:cs typeface="Consolas"/>
              </a:rPr>
              <a:t>huweikang2023212308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3949" y="847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6349" y="742950"/>
            <a:ext cx="9058870" cy="64579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1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9207" y="42883"/>
                </a:lnTo>
                <a:lnTo>
                  <a:pt x="6974" y="40650"/>
                </a:lnTo>
                <a:lnTo>
                  <a:pt x="4741" y="38417"/>
                </a:lnTo>
                <a:lnTo>
                  <a:pt x="3021" y="35842"/>
                </a:lnTo>
                <a:lnTo>
                  <a:pt x="1812" y="32925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1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8850" y="368300"/>
            <a:ext cx="1016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uname -a </a:t>
            </a: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1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9207" y="42883"/>
                </a:lnTo>
                <a:lnTo>
                  <a:pt x="6974" y="40650"/>
                </a:lnTo>
                <a:lnTo>
                  <a:pt x="4741" y="38417"/>
                </a:lnTo>
                <a:lnTo>
                  <a:pt x="3021" y="35842"/>
                </a:lnTo>
                <a:lnTo>
                  <a:pt x="1812" y="32925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1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361950"/>
            <a:ext cx="9363670" cy="66770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1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9207" y="42883"/>
                </a:lnTo>
                <a:lnTo>
                  <a:pt x="6974" y="40650"/>
                </a:lnTo>
                <a:lnTo>
                  <a:pt x="4741" y="38417"/>
                </a:lnTo>
                <a:lnTo>
                  <a:pt x="3021" y="35842"/>
                </a:lnTo>
                <a:lnTo>
                  <a:pt x="1812" y="32925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1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8850" y="368300"/>
            <a:ext cx="16662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getconf</a:t>
            </a:r>
            <a:r>
              <a:rPr sz="12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PAGESIZE</a:t>
            </a:r>
            <a:r>
              <a:rPr sz="120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1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9207" y="42883"/>
                </a:lnTo>
                <a:lnTo>
                  <a:pt x="6974" y="40650"/>
                </a:lnTo>
                <a:lnTo>
                  <a:pt x="4741" y="38417"/>
                </a:lnTo>
                <a:lnTo>
                  <a:pt x="3021" y="35842"/>
                </a:lnTo>
                <a:lnTo>
                  <a:pt x="1812" y="32925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1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361950"/>
            <a:ext cx="9363670" cy="66770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3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191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32925" y="45812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4"/>
                </a:lnTo>
                <a:lnTo>
                  <a:pt x="32925" y="1812"/>
                </a:lnTo>
                <a:lnTo>
                  <a:pt x="35842" y="3020"/>
                </a:lnTo>
                <a:lnTo>
                  <a:pt x="38417" y="4741"/>
                </a:lnTo>
                <a:lnTo>
                  <a:pt x="40650" y="6974"/>
                </a:lnTo>
                <a:lnTo>
                  <a:pt x="42883" y="9207"/>
                </a:lnTo>
                <a:lnTo>
                  <a:pt x="44603" y="11782"/>
                </a:lnTo>
                <a:lnTo>
                  <a:pt x="45812" y="14699"/>
                </a:lnTo>
                <a:lnTo>
                  <a:pt x="47020" y="17617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39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8749" y="1200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9149" y="14382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32925" y="45812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7"/>
                </a:lnTo>
                <a:lnTo>
                  <a:pt x="44603" y="11782"/>
                </a:lnTo>
                <a:lnTo>
                  <a:pt x="45812" y="14699"/>
                </a:lnTo>
                <a:lnTo>
                  <a:pt x="47020" y="17617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9149" y="16859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70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2"/>
                </a:lnTo>
                <a:lnTo>
                  <a:pt x="32925" y="45812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9207" y="42883"/>
                </a:lnTo>
                <a:lnTo>
                  <a:pt x="6974" y="40650"/>
                </a:lnTo>
                <a:lnTo>
                  <a:pt x="4741" y="38417"/>
                </a:lnTo>
                <a:lnTo>
                  <a:pt x="3021" y="35842"/>
                </a:lnTo>
                <a:lnTo>
                  <a:pt x="1812" y="32924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04" y="17617"/>
                </a:lnTo>
                <a:lnTo>
                  <a:pt x="1812" y="14699"/>
                </a:lnTo>
                <a:lnTo>
                  <a:pt x="3021" y="11782"/>
                </a:lnTo>
                <a:lnTo>
                  <a:pt x="4741" y="9207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5812" y="14699"/>
                </a:lnTo>
                <a:lnTo>
                  <a:pt x="47020" y="17617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23949" y="19335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28749" y="21716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23949" y="24193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4049" y="303529"/>
            <a:ext cx="5543550" cy="222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2137410" indent="-304800">
              <a:lnSpc>
                <a:spcPct val="135400"/>
              </a:lnSpc>
              <a:spcBef>
                <a:spcPts val="100"/>
              </a:spcBef>
            </a:pPr>
            <a:r>
              <a:rPr sz="1200" spc="-5" dirty="0">
                <a:solidFill>
                  <a:srgbClr val="333333"/>
                </a:solidFill>
                <a:latin typeface="微软雅黑"/>
                <a:cs typeface="微软雅黑"/>
              </a:rPr>
              <a:t>采用重新编译源代码的方式将内核更新至最新版</a:t>
            </a:r>
            <a:r>
              <a:rPr sz="1200" spc="500" dirty="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sz="1200" spc="125" dirty="0">
                <a:solidFill>
                  <a:srgbClr val="333333"/>
                </a:solidFill>
                <a:latin typeface="微软雅黑"/>
                <a:cs typeface="微软雅黑"/>
              </a:rPr>
              <a:t>登出 </a:t>
            </a:r>
            <a:r>
              <a:rPr sz="1000" dirty="0">
                <a:latin typeface="Consolas"/>
                <a:cs typeface="Consolas"/>
              </a:rPr>
              <a:t>bupt-os-huweikang2023212308</a:t>
            </a:r>
            <a:r>
              <a:rPr sz="1000" spc="190" dirty="0">
                <a:latin typeface="Consolas"/>
                <a:cs typeface="Consolas"/>
              </a:rPr>
              <a:t> </a:t>
            </a:r>
            <a:r>
              <a:rPr sz="1200" spc="125" dirty="0">
                <a:solidFill>
                  <a:srgbClr val="333333"/>
                </a:solidFill>
                <a:latin typeface="微软雅黑"/>
                <a:cs typeface="微软雅黑"/>
              </a:rPr>
              <a:t>登入 </a:t>
            </a:r>
            <a:r>
              <a:rPr sz="1000" spc="-20" dirty="0">
                <a:latin typeface="Consolas"/>
                <a:cs typeface="Consolas"/>
              </a:rPr>
              <a:t>root</a:t>
            </a:r>
            <a:endParaRPr sz="1000">
              <a:latin typeface="Consolas"/>
              <a:cs typeface="Consolas"/>
            </a:endParaRPr>
          </a:p>
          <a:p>
            <a:pPr marL="621665">
              <a:lnSpc>
                <a:spcPct val="100000"/>
              </a:lnSpc>
              <a:spcBef>
                <a:spcPts val="434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972185">
              <a:lnSpc>
                <a:spcPct val="100000"/>
              </a:lnSpc>
              <a:spcBef>
                <a:spcPts val="690"/>
              </a:spcBef>
            </a:pPr>
            <a:r>
              <a:rPr sz="1000" spc="-10" dirty="0">
                <a:latin typeface="Consolas"/>
                <a:cs typeface="Consolas"/>
              </a:rPr>
              <a:t>logout</a:t>
            </a:r>
            <a:endParaRPr sz="1000">
              <a:latin typeface="Consolas"/>
              <a:cs typeface="Consolas"/>
            </a:endParaRPr>
          </a:p>
          <a:p>
            <a:pPr marL="316865">
              <a:lnSpc>
                <a:spcPct val="100000"/>
              </a:lnSpc>
              <a:spcBef>
                <a:spcPts val="550"/>
              </a:spcBef>
            </a:pPr>
            <a:r>
              <a:rPr sz="1800" spc="179" baseline="2314" dirty="0">
                <a:solidFill>
                  <a:srgbClr val="333333"/>
                </a:solidFill>
                <a:latin typeface="微软雅黑"/>
                <a:cs typeface="微软雅黑"/>
              </a:rPr>
              <a:t>下载 </a:t>
            </a:r>
            <a:r>
              <a:rPr sz="1000" dirty="0">
                <a:latin typeface="Consolas"/>
                <a:cs typeface="Consolas"/>
              </a:rPr>
              <a:t>openEuler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20.03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update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4.19.90-2403.4.0</a:t>
            </a:r>
            <a:r>
              <a:rPr sz="1000" spc="175" dirty="0">
                <a:latin typeface="Consolas"/>
                <a:cs typeface="Consolas"/>
              </a:rPr>
              <a:t> </a:t>
            </a:r>
            <a:r>
              <a:rPr sz="1800" spc="-7" baseline="2314" dirty="0">
                <a:solidFill>
                  <a:srgbClr val="333333"/>
                </a:solidFill>
                <a:latin typeface="微软雅黑"/>
                <a:cs typeface="微软雅黑"/>
              </a:rPr>
              <a:t>对应 </a:t>
            </a:r>
            <a:r>
              <a:rPr sz="1800" baseline="2314" dirty="0">
                <a:solidFill>
                  <a:srgbClr val="333333"/>
                </a:solidFill>
                <a:latin typeface="Arial"/>
                <a:cs typeface="Arial"/>
              </a:rPr>
              <a:t>Source</a:t>
            </a:r>
            <a:r>
              <a:rPr sz="1800" spc="22" baseline="2314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800" spc="-30" baseline="2314" dirty="0">
                <a:solidFill>
                  <a:srgbClr val="333333"/>
                </a:solidFill>
                <a:latin typeface="Arial"/>
                <a:cs typeface="Arial"/>
              </a:rPr>
              <a:t>code</a:t>
            </a:r>
            <a:endParaRPr sz="1800" baseline="2314">
              <a:latin typeface="Arial"/>
              <a:cs typeface="Arial"/>
            </a:endParaRPr>
          </a:p>
          <a:p>
            <a:pPr marL="621665" marR="3846195" indent="-304800">
              <a:lnSpc>
                <a:spcPts val="1950"/>
              </a:lnSpc>
              <a:spcBef>
                <a:spcPts val="95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将文件传入虚拟机中</a:t>
            </a: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972185">
              <a:lnSpc>
                <a:spcPct val="100000"/>
              </a:lnSpc>
              <a:spcBef>
                <a:spcPts val="464"/>
              </a:spcBef>
            </a:pPr>
            <a:r>
              <a:rPr sz="1000" dirty="0">
                <a:latin typeface="Consolas"/>
                <a:cs typeface="Consolas"/>
              </a:rPr>
              <a:t>scp</a:t>
            </a:r>
            <a:r>
              <a:rPr sz="1000" spc="10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.\kernel-4.19.90-2403.4.0.tar.gz</a:t>
            </a:r>
            <a:r>
              <a:rPr sz="1000" spc="10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root@192.168.142.132:/root/</a:t>
            </a:r>
            <a:endParaRPr sz="1000">
              <a:latin typeface="Consolas"/>
              <a:cs typeface="Consolas"/>
            </a:endParaRPr>
          </a:p>
          <a:p>
            <a:pPr marL="621665">
              <a:lnSpc>
                <a:spcPct val="100000"/>
              </a:lnSpc>
              <a:spcBef>
                <a:spcPts val="570"/>
              </a:spcBef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IP</a:t>
            </a:r>
            <a:r>
              <a:rPr sz="120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微软雅黑"/>
                <a:cs typeface="微软雅黑"/>
              </a:rPr>
              <a:t>地址在登陆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OpenEuler</a:t>
            </a:r>
            <a:r>
              <a:rPr sz="1200" spc="-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时可以得到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5105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23949" y="5572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8749" y="5819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3649" y="5373757"/>
            <a:ext cx="1244600" cy="7943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spc="-25" dirty="0">
                <a:latin typeface="Consolas"/>
                <a:cs typeface="Consolas"/>
              </a:rPr>
              <a:t>ls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可以发现成功传入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23949" y="60578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64579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19149" y="69246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6"/>
                </a:lnTo>
                <a:lnTo>
                  <a:pt x="45812" y="32923"/>
                </a:lnTo>
                <a:lnTo>
                  <a:pt x="44603" y="35841"/>
                </a:lnTo>
                <a:lnTo>
                  <a:pt x="32925" y="45811"/>
                </a:lnTo>
                <a:lnTo>
                  <a:pt x="30007" y="47019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19"/>
                </a:lnTo>
                <a:lnTo>
                  <a:pt x="14699" y="45811"/>
                </a:lnTo>
                <a:lnTo>
                  <a:pt x="11782" y="44602"/>
                </a:lnTo>
                <a:lnTo>
                  <a:pt x="1812" y="32923"/>
                </a:lnTo>
                <a:lnTo>
                  <a:pt x="604" y="30006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4"/>
                </a:lnTo>
                <a:lnTo>
                  <a:pt x="32925" y="1812"/>
                </a:lnTo>
                <a:lnTo>
                  <a:pt x="35842" y="3020"/>
                </a:lnTo>
                <a:lnTo>
                  <a:pt x="38417" y="474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8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850" y="6826250"/>
            <a:ext cx="63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solidFill>
                  <a:srgbClr val="333333"/>
                </a:solidFill>
                <a:latin typeface="微软雅黑"/>
                <a:cs typeface="微软雅黑"/>
              </a:rPr>
              <a:t>解压文件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287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3649" y="268357"/>
            <a:ext cx="3153410" cy="5486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tar</a:t>
            </a:r>
            <a:r>
              <a:rPr sz="1000" spc="7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-xvf</a:t>
            </a:r>
            <a:r>
              <a:rPr sz="1000" spc="7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kernel-4.19.90-</a:t>
            </a:r>
            <a:r>
              <a:rPr sz="1000" spc="-10" dirty="0">
                <a:latin typeface="Consolas"/>
                <a:cs typeface="Consolas"/>
              </a:rPr>
              <a:t>2403.4.0.tar.gz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64579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19149" y="69246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6"/>
                </a:lnTo>
                <a:lnTo>
                  <a:pt x="45812" y="32923"/>
                </a:lnTo>
                <a:lnTo>
                  <a:pt x="44603" y="35841"/>
                </a:lnTo>
                <a:lnTo>
                  <a:pt x="32925" y="45811"/>
                </a:lnTo>
                <a:lnTo>
                  <a:pt x="30007" y="47019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19"/>
                </a:lnTo>
                <a:lnTo>
                  <a:pt x="14699" y="45811"/>
                </a:lnTo>
                <a:lnTo>
                  <a:pt x="11782" y="44602"/>
                </a:lnTo>
                <a:lnTo>
                  <a:pt x="1812" y="32923"/>
                </a:lnTo>
                <a:lnTo>
                  <a:pt x="604" y="30006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4"/>
                </a:lnTo>
                <a:lnTo>
                  <a:pt x="32925" y="1812"/>
                </a:lnTo>
                <a:lnTo>
                  <a:pt x="35842" y="3020"/>
                </a:lnTo>
                <a:lnTo>
                  <a:pt x="38417" y="474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8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850" y="6826250"/>
            <a:ext cx="787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编译源代码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287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39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8749" y="1200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28749" y="14382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28749" y="16859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28749" y="19335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28749" y="21716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23949" y="24193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8749" y="26574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63649" y="268357"/>
            <a:ext cx="2726055" cy="250126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cd</a:t>
            </a:r>
            <a:r>
              <a:rPr sz="1000" spc="10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kernel-4.19.90-</a:t>
            </a:r>
            <a:r>
              <a:rPr sz="1000" spc="-10" dirty="0">
                <a:latin typeface="Consolas"/>
                <a:cs typeface="Consolas"/>
              </a:rPr>
              <a:t>2403.4.0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200" spc="-15" dirty="0">
                <a:solidFill>
                  <a:srgbClr val="333333"/>
                </a:solidFill>
                <a:latin typeface="微软雅黑"/>
                <a:cs typeface="微软雅黑"/>
              </a:rPr>
              <a:t>安装依赖</a:t>
            </a:r>
            <a:endParaRPr sz="1200">
              <a:latin typeface="微软雅黑"/>
              <a:cs typeface="微软雅黑"/>
            </a:endParaRPr>
          </a:p>
          <a:p>
            <a:pPr marL="362585" marR="574675">
              <a:lnSpc>
                <a:spcPts val="1950"/>
              </a:lnSpc>
              <a:spcBef>
                <a:spcPts val="130"/>
              </a:spcBef>
            </a:pPr>
            <a:r>
              <a:rPr sz="1000" dirty="0">
                <a:latin typeface="Consolas"/>
                <a:cs typeface="Consolas"/>
              </a:rPr>
              <a:t>yum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install</a:t>
            </a:r>
            <a:r>
              <a:rPr sz="1000" spc="6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ncurses-</a:t>
            </a:r>
            <a:r>
              <a:rPr sz="1000" spc="-10" dirty="0">
                <a:latin typeface="Consolas"/>
                <a:cs typeface="Consolas"/>
              </a:rPr>
              <a:t>devel </a:t>
            </a:r>
            <a:r>
              <a:rPr sz="1000" dirty="0">
                <a:latin typeface="Consolas"/>
                <a:cs typeface="Consolas"/>
              </a:rPr>
              <a:t>yum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install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spc="-20" dirty="0">
                <a:latin typeface="Consolas"/>
                <a:cs typeface="Consolas"/>
              </a:rPr>
              <a:t>flex</a:t>
            </a:r>
            <a:endParaRPr sz="1000">
              <a:latin typeface="Consolas"/>
              <a:cs typeface="Consolas"/>
            </a:endParaRPr>
          </a:p>
          <a:p>
            <a:pPr marL="362585">
              <a:lnSpc>
                <a:spcPct val="100000"/>
              </a:lnSpc>
              <a:spcBef>
                <a:spcPts val="484"/>
              </a:spcBef>
            </a:pPr>
            <a:r>
              <a:rPr sz="1000" dirty="0">
                <a:latin typeface="Consolas"/>
                <a:cs typeface="Consolas"/>
              </a:rPr>
              <a:t>yum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install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spc="-25" dirty="0">
                <a:latin typeface="Consolas"/>
                <a:cs typeface="Consolas"/>
              </a:rPr>
              <a:t>bc</a:t>
            </a:r>
            <a:endParaRPr sz="1000">
              <a:latin typeface="Consolas"/>
              <a:cs typeface="Consolas"/>
            </a:endParaRPr>
          </a:p>
          <a:p>
            <a:pPr marL="362585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latin typeface="Consolas"/>
                <a:cs typeface="Consolas"/>
              </a:rPr>
              <a:t>yum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install</a:t>
            </a:r>
            <a:r>
              <a:rPr sz="1000" spc="6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openssl-</a:t>
            </a:r>
            <a:r>
              <a:rPr sz="1000" spc="-10" dirty="0">
                <a:latin typeface="Consolas"/>
                <a:cs typeface="Consolas"/>
              </a:rPr>
              <a:t>devel</a:t>
            </a:r>
            <a:endParaRPr sz="1000">
              <a:latin typeface="Consolas"/>
              <a:cs typeface="Consolas"/>
            </a:endParaRPr>
          </a:p>
          <a:p>
            <a:pPr marL="362585">
              <a:lnSpc>
                <a:spcPct val="100000"/>
              </a:lnSpc>
              <a:spcBef>
                <a:spcPts val="675"/>
              </a:spcBef>
            </a:pPr>
            <a:r>
              <a:rPr sz="1000" dirty="0">
                <a:latin typeface="Consolas"/>
                <a:cs typeface="Consolas"/>
              </a:rPr>
              <a:t>yum</a:t>
            </a:r>
            <a:r>
              <a:rPr sz="1000" spc="8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install</a:t>
            </a:r>
            <a:r>
              <a:rPr sz="1000" spc="8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elfutils-libelf-</a:t>
            </a:r>
            <a:r>
              <a:rPr sz="1000" spc="-10" dirty="0">
                <a:latin typeface="Consolas"/>
                <a:cs typeface="Consolas"/>
              </a:rPr>
              <a:t>devel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make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menuconfig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64579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23949" y="69246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3649" y="6826250"/>
            <a:ext cx="2938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333333"/>
                </a:solidFill>
                <a:latin typeface="微软雅黑"/>
                <a:cs typeface="微软雅黑"/>
              </a:rPr>
              <a:t>通过方向键选择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Save </a:t>
            </a:r>
            <a:r>
              <a:rPr sz="1200" spc="-15" dirty="0">
                <a:solidFill>
                  <a:srgbClr val="333333"/>
                </a:solidFill>
                <a:latin typeface="微软雅黑"/>
                <a:cs typeface="微软雅黑"/>
              </a:rPr>
              <a:t>并回车 保存默认配置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287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335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3649" y="268357"/>
            <a:ext cx="1981835" cy="79438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make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</a:t>
            </a:r>
            <a:r>
              <a:rPr sz="1000" spc="-25" dirty="0">
                <a:latin typeface="Consolas"/>
                <a:cs typeface="Consolas"/>
              </a:rPr>
              <a:t>j8</a:t>
            </a:r>
            <a:endParaRPr sz="1000">
              <a:latin typeface="Consolas"/>
              <a:cs typeface="Consolas"/>
            </a:endParaRPr>
          </a:p>
          <a:p>
            <a:pPr marL="621665">
              <a:lnSpc>
                <a:spcPct val="100000"/>
              </a:lnSpc>
              <a:spcBef>
                <a:spcPts val="495"/>
              </a:spcBef>
            </a:pP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8 </a:t>
            </a: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线程加快编译速度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361950"/>
            <a:ext cx="9058870" cy="62102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14349" y="66770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9149" y="69246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6"/>
                </a:lnTo>
                <a:lnTo>
                  <a:pt x="45812" y="32923"/>
                </a:lnTo>
                <a:lnTo>
                  <a:pt x="44603" y="35841"/>
                </a:lnTo>
                <a:lnTo>
                  <a:pt x="32925" y="45811"/>
                </a:lnTo>
                <a:lnTo>
                  <a:pt x="30007" y="47019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19"/>
                </a:lnTo>
                <a:lnTo>
                  <a:pt x="14699" y="45811"/>
                </a:lnTo>
                <a:lnTo>
                  <a:pt x="11782" y="44602"/>
                </a:lnTo>
                <a:lnTo>
                  <a:pt x="1812" y="32923"/>
                </a:lnTo>
                <a:lnTo>
                  <a:pt x="604" y="30006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4"/>
                </a:lnTo>
                <a:lnTo>
                  <a:pt x="32925" y="1812"/>
                </a:lnTo>
                <a:lnTo>
                  <a:pt x="35842" y="3020"/>
                </a:lnTo>
                <a:lnTo>
                  <a:pt x="38417" y="474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8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4049" y="6513829"/>
            <a:ext cx="3040380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35400"/>
              </a:lnSpc>
              <a:spcBef>
                <a:spcPts val="100"/>
              </a:spcBef>
            </a:pPr>
            <a:r>
              <a:rPr sz="1200" spc="-5" dirty="0">
                <a:solidFill>
                  <a:srgbClr val="333333"/>
                </a:solidFill>
                <a:latin typeface="微软雅黑"/>
                <a:cs typeface="微软雅黑"/>
              </a:rPr>
              <a:t>重新编译后，安装内核，执行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uname</a:t>
            </a:r>
            <a:r>
              <a:rPr sz="1200" spc="-20" dirty="0">
                <a:solidFill>
                  <a:srgbClr val="333333"/>
                </a:solidFill>
                <a:latin typeface="Arial"/>
                <a:cs typeface="Arial"/>
              </a:rPr>
              <a:t> -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sz="12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指令指令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09042" y="388481"/>
            <a:ext cx="1734820" cy="180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latin typeface="Consolas"/>
                <a:cs typeface="Consolas"/>
              </a:rPr>
              <a:t>make</a:t>
            </a:r>
            <a:r>
              <a:rPr sz="1000" spc="6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modules_install</a:t>
            </a:r>
            <a:r>
              <a:rPr sz="1000" spc="6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</a:t>
            </a:r>
            <a:r>
              <a:rPr sz="1000" spc="-25" dirty="0">
                <a:latin typeface="Consolas"/>
                <a:cs typeface="Consolas"/>
              </a:rPr>
              <a:t>j8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91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32925" y="45812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4"/>
                </a:lnTo>
                <a:lnTo>
                  <a:pt x="32925" y="1812"/>
                </a:lnTo>
                <a:lnTo>
                  <a:pt x="35842" y="3020"/>
                </a:lnTo>
                <a:lnTo>
                  <a:pt x="38417" y="4741"/>
                </a:lnTo>
                <a:lnTo>
                  <a:pt x="40650" y="6974"/>
                </a:lnTo>
                <a:lnTo>
                  <a:pt x="42883" y="9207"/>
                </a:lnTo>
                <a:lnTo>
                  <a:pt x="44603" y="11782"/>
                </a:lnTo>
                <a:lnTo>
                  <a:pt x="45812" y="14699"/>
                </a:lnTo>
                <a:lnTo>
                  <a:pt x="47020" y="17617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609600"/>
            <a:ext cx="9363670" cy="64198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1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9207" y="42883"/>
                </a:lnTo>
                <a:lnTo>
                  <a:pt x="6974" y="40650"/>
                </a:lnTo>
                <a:lnTo>
                  <a:pt x="4741" y="38417"/>
                </a:lnTo>
                <a:lnTo>
                  <a:pt x="3021" y="35842"/>
                </a:lnTo>
                <a:lnTo>
                  <a:pt x="1812" y="32925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1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239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8850" y="268357"/>
            <a:ext cx="1515745" cy="5486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make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install</a:t>
            </a:r>
            <a:r>
              <a:rPr sz="1000" spc="4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</a:t>
            </a:r>
            <a:r>
              <a:rPr sz="1000" spc="-25" dirty="0">
                <a:latin typeface="Consolas"/>
                <a:cs typeface="Consolas"/>
              </a:rPr>
              <a:t>j8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1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9207" y="42883"/>
                </a:lnTo>
                <a:lnTo>
                  <a:pt x="6974" y="40650"/>
                </a:lnTo>
                <a:lnTo>
                  <a:pt x="4741" y="38417"/>
                </a:lnTo>
                <a:lnTo>
                  <a:pt x="3021" y="35842"/>
                </a:lnTo>
                <a:lnTo>
                  <a:pt x="1812" y="32925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1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361950"/>
            <a:ext cx="9363670" cy="64198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19149" y="68865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4"/>
                </a:lnTo>
                <a:lnTo>
                  <a:pt x="20654" y="47624"/>
                </a:lnTo>
                <a:lnTo>
                  <a:pt x="6974" y="40649"/>
                </a:lnTo>
                <a:lnTo>
                  <a:pt x="4741" y="38416"/>
                </a:lnTo>
                <a:lnTo>
                  <a:pt x="3021" y="35842"/>
                </a:lnTo>
                <a:lnTo>
                  <a:pt x="1812" y="32924"/>
                </a:lnTo>
                <a:lnTo>
                  <a:pt x="604" y="30007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04" y="17616"/>
                </a:lnTo>
                <a:lnTo>
                  <a:pt x="1812" y="14699"/>
                </a:lnTo>
                <a:lnTo>
                  <a:pt x="3021" y="11781"/>
                </a:lnTo>
                <a:lnTo>
                  <a:pt x="4741" y="9206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850" y="6788150"/>
            <a:ext cx="787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重启虚拟机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1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9207" y="42883"/>
                </a:lnTo>
                <a:lnTo>
                  <a:pt x="6974" y="40650"/>
                </a:lnTo>
                <a:lnTo>
                  <a:pt x="4741" y="38417"/>
                </a:lnTo>
                <a:lnTo>
                  <a:pt x="3021" y="35842"/>
                </a:lnTo>
                <a:lnTo>
                  <a:pt x="1812" y="32925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1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8850" y="368300"/>
            <a:ext cx="1549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333333"/>
                </a:solidFill>
                <a:latin typeface="微软雅黑"/>
                <a:cs typeface="微软雅黑"/>
              </a:rPr>
              <a:t>引导页面出现新的内核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91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32925" y="45812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4"/>
                </a:lnTo>
                <a:lnTo>
                  <a:pt x="32925" y="1812"/>
                </a:lnTo>
                <a:lnTo>
                  <a:pt x="35842" y="3020"/>
                </a:lnTo>
                <a:lnTo>
                  <a:pt x="38417" y="4741"/>
                </a:lnTo>
                <a:lnTo>
                  <a:pt x="40650" y="6974"/>
                </a:lnTo>
                <a:lnTo>
                  <a:pt x="42883" y="9207"/>
                </a:lnTo>
                <a:lnTo>
                  <a:pt x="44603" y="11782"/>
                </a:lnTo>
                <a:lnTo>
                  <a:pt x="45812" y="14699"/>
                </a:lnTo>
                <a:lnTo>
                  <a:pt x="47020" y="17617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609600"/>
            <a:ext cx="8839199" cy="494347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19149" y="56578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4" y="26969"/>
                </a:lnTo>
                <a:lnTo>
                  <a:pt x="47020" y="30006"/>
                </a:lnTo>
                <a:lnTo>
                  <a:pt x="45812" y="32924"/>
                </a:lnTo>
                <a:lnTo>
                  <a:pt x="44603" y="35841"/>
                </a:lnTo>
                <a:lnTo>
                  <a:pt x="32925" y="45811"/>
                </a:lnTo>
                <a:lnTo>
                  <a:pt x="30007" y="47019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19"/>
                </a:lnTo>
                <a:lnTo>
                  <a:pt x="14699" y="45811"/>
                </a:lnTo>
                <a:lnTo>
                  <a:pt x="11782" y="44603"/>
                </a:lnTo>
                <a:lnTo>
                  <a:pt x="9207" y="42882"/>
                </a:lnTo>
                <a:lnTo>
                  <a:pt x="6974" y="40649"/>
                </a:lnTo>
                <a:lnTo>
                  <a:pt x="4741" y="38416"/>
                </a:lnTo>
                <a:lnTo>
                  <a:pt x="3021" y="35841"/>
                </a:lnTo>
                <a:lnTo>
                  <a:pt x="1812" y="32924"/>
                </a:lnTo>
                <a:lnTo>
                  <a:pt x="604" y="30006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4"/>
                </a:lnTo>
                <a:lnTo>
                  <a:pt x="32925" y="1812"/>
                </a:lnTo>
                <a:lnTo>
                  <a:pt x="35842" y="3020"/>
                </a:lnTo>
                <a:lnTo>
                  <a:pt x="38417" y="474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8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8850" y="5559425"/>
            <a:ext cx="9880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14" dirty="0">
                <a:solidFill>
                  <a:srgbClr val="333333"/>
                </a:solidFill>
                <a:latin typeface="微软雅黑"/>
                <a:cs typeface="微软雅黑"/>
              </a:rPr>
              <a:t>执行 </a:t>
            </a:r>
            <a:r>
              <a:rPr sz="1000" dirty="0">
                <a:latin typeface="Consolas"/>
                <a:cs typeface="Consolas"/>
              </a:rPr>
              <a:t>uname</a:t>
            </a:r>
            <a:r>
              <a:rPr sz="1000" spc="10" dirty="0">
                <a:latin typeface="Consolas"/>
                <a:cs typeface="Consolas"/>
              </a:rPr>
              <a:t> -</a:t>
            </a:r>
            <a:r>
              <a:rPr sz="1000" spc="-50" dirty="0">
                <a:latin typeface="Consolas"/>
                <a:cs typeface="Consolas"/>
              </a:rPr>
              <a:t>a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1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9207" y="42883"/>
                </a:lnTo>
                <a:lnTo>
                  <a:pt x="6974" y="40650"/>
                </a:lnTo>
                <a:lnTo>
                  <a:pt x="4741" y="38417"/>
                </a:lnTo>
                <a:lnTo>
                  <a:pt x="3021" y="35842"/>
                </a:lnTo>
                <a:lnTo>
                  <a:pt x="1812" y="32925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1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361950"/>
            <a:ext cx="9363670" cy="668654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43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191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32925" y="45812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4"/>
                </a:lnTo>
                <a:lnTo>
                  <a:pt x="32925" y="1812"/>
                </a:lnTo>
                <a:lnTo>
                  <a:pt x="35842" y="3020"/>
                </a:lnTo>
                <a:lnTo>
                  <a:pt x="38417" y="4741"/>
                </a:lnTo>
                <a:lnTo>
                  <a:pt x="40650" y="6974"/>
                </a:lnTo>
                <a:lnTo>
                  <a:pt x="42883" y="9207"/>
                </a:lnTo>
                <a:lnTo>
                  <a:pt x="44603" y="11782"/>
                </a:lnTo>
                <a:lnTo>
                  <a:pt x="45812" y="14699"/>
                </a:lnTo>
                <a:lnTo>
                  <a:pt x="47020" y="17617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39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8749" y="1200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28749" y="14382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4049" y="303529"/>
            <a:ext cx="4902835" cy="12471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基础操作系统实验</a:t>
            </a:r>
            <a:endParaRPr sz="1200">
              <a:latin typeface="微软雅黑"/>
              <a:cs typeface="微软雅黑"/>
            </a:endParaRPr>
          </a:p>
          <a:p>
            <a:pPr marL="621665" marR="3205480" indent="-304800">
              <a:lnSpc>
                <a:spcPct val="130200"/>
              </a:lnSpc>
              <a:spcBef>
                <a:spcPts val="75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将代码传入虚拟机中</a:t>
            </a: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972185" marR="5080">
              <a:lnSpc>
                <a:spcPts val="1950"/>
              </a:lnSpc>
              <a:spcBef>
                <a:spcPts val="40"/>
              </a:spcBef>
            </a:pPr>
            <a:r>
              <a:rPr sz="1000" dirty="0">
                <a:latin typeface="Consolas"/>
                <a:cs typeface="Consolas"/>
              </a:rPr>
              <a:t>scp</a:t>
            </a:r>
            <a:r>
              <a:rPr sz="1000" spc="5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-r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.\MemoryManagement\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root@192.168.142.132:/root/ </a:t>
            </a:r>
            <a:r>
              <a:rPr sz="1000" dirty="0">
                <a:latin typeface="Consolas"/>
                <a:cs typeface="Consolas"/>
              </a:rPr>
              <a:t>scp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-r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.\ProcessManagement\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root@192.168.142.132:/root/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23949" y="16859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1581149"/>
            <a:ext cx="9058870" cy="510539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123949" y="67913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8749" y="70389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63649" y="6592957"/>
            <a:ext cx="518159" cy="5486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R="5080" algn="r">
              <a:lnSpc>
                <a:spcPct val="100000"/>
              </a:lnSpc>
              <a:spcBef>
                <a:spcPts val="690"/>
              </a:spcBef>
            </a:pPr>
            <a:r>
              <a:rPr sz="1000" spc="-25" dirty="0">
                <a:latin typeface="Consolas"/>
                <a:cs typeface="Consolas"/>
              </a:rPr>
              <a:t>ls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63649" y="368300"/>
            <a:ext cx="1244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可以发现成功传入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39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6349" y="609600"/>
            <a:ext cx="9058870" cy="646747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1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4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9207" y="42883"/>
                </a:lnTo>
                <a:lnTo>
                  <a:pt x="6974" y="40650"/>
                </a:lnTo>
                <a:lnTo>
                  <a:pt x="4741" y="38417"/>
                </a:lnTo>
                <a:lnTo>
                  <a:pt x="3021" y="35842"/>
                </a:lnTo>
                <a:lnTo>
                  <a:pt x="1812" y="32925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1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239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287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1200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3549" y="14382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8850" y="303529"/>
            <a:ext cx="3988435" cy="12471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内存管理实验</a:t>
            </a:r>
            <a:endParaRPr sz="1200">
              <a:latin typeface="微软雅黑"/>
              <a:cs typeface="微软雅黑"/>
            </a:endParaRPr>
          </a:p>
          <a:p>
            <a:pPr marL="621665" marR="5080" indent="-304800">
              <a:lnSpc>
                <a:spcPct val="130200"/>
              </a:lnSpc>
              <a:spcBef>
                <a:spcPts val="75"/>
              </a:spcBef>
            </a:pPr>
            <a:r>
              <a:rPr sz="1200" spc="-20" dirty="0">
                <a:solidFill>
                  <a:srgbClr val="333333"/>
                </a:solidFill>
                <a:latin typeface="微软雅黑"/>
                <a:cs typeface="微软雅黑"/>
              </a:rPr>
              <a:t>使用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kmalloc</a:t>
            </a:r>
            <a:r>
              <a:rPr sz="1200" spc="-3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微软雅黑"/>
                <a:cs typeface="微软雅黑"/>
              </a:rPr>
              <a:t>分配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1KB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，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8KB</a:t>
            </a:r>
            <a:r>
              <a:rPr sz="1200" spc="-5" dirty="0">
                <a:solidFill>
                  <a:srgbClr val="333333"/>
                </a:solidFill>
                <a:latin typeface="微软雅黑"/>
                <a:cs typeface="微软雅黑"/>
              </a:rPr>
              <a:t>的内存，并打印指针地址</a:t>
            </a: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972185" marR="800100">
              <a:lnSpc>
                <a:spcPts val="1950"/>
              </a:lnSpc>
              <a:spcBef>
                <a:spcPts val="40"/>
              </a:spcBef>
            </a:pPr>
            <a:r>
              <a:rPr sz="1000" dirty="0">
                <a:latin typeface="Consolas"/>
                <a:cs typeface="Consolas"/>
              </a:rPr>
              <a:t>cd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/root/MemoryManagement/task1 </a:t>
            </a:r>
            <a:r>
              <a:rPr sz="1000" spc="-20" dirty="0">
                <a:latin typeface="Consolas"/>
                <a:cs typeface="Consolas"/>
              </a:rPr>
              <a:t>make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287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68449" y="6516757"/>
            <a:ext cx="1586865" cy="5486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insmod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kmalloc.ko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35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8642" y="388481"/>
            <a:ext cx="1236345" cy="666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latin typeface="Consolas"/>
                <a:cs typeface="Consolas"/>
              </a:rPr>
              <a:t>dmesg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|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tail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-n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spc="-50" dirty="0">
                <a:latin typeface="Consolas"/>
                <a:cs typeface="Consolas"/>
              </a:rPr>
              <a:t>3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56300"/>
              </a:lnSpc>
              <a:spcBef>
                <a:spcPts val="75"/>
              </a:spcBef>
            </a:pPr>
            <a:r>
              <a:rPr sz="1000" dirty="0">
                <a:latin typeface="Consolas"/>
                <a:cs typeface="Consolas"/>
              </a:rPr>
              <a:t>rmmod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kmalloc </a:t>
            </a:r>
            <a:r>
              <a:rPr sz="1000" dirty="0">
                <a:latin typeface="Consolas"/>
                <a:cs typeface="Consolas"/>
              </a:rPr>
              <a:t>dmesg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|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tail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-n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spc="-50" dirty="0">
                <a:latin typeface="Consolas"/>
                <a:cs typeface="Consolas"/>
              </a:rPr>
              <a:t>4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287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68449" y="6516757"/>
            <a:ext cx="4933950" cy="5486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vi</a:t>
            </a:r>
            <a:r>
              <a:rPr sz="1000" spc="1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/root/kernel-4.19.90-</a:t>
            </a:r>
            <a:r>
              <a:rPr sz="1000" spc="-10" dirty="0">
                <a:latin typeface="Consolas"/>
                <a:cs typeface="Consolas"/>
              </a:rPr>
              <a:t>2403.4.0/Documentation/x86/x86_64/mm.txt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287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3649" y="6551929"/>
            <a:ext cx="4369435" cy="52070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61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可知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kmalloc </a:t>
            </a:r>
            <a:r>
              <a:rPr sz="1200" spc="-5" dirty="0">
                <a:solidFill>
                  <a:srgbClr val="333333"/>
                </a:solidFill>
                <a:latin typeface="微软雅黑"/>
                <a:cs typeface="微软雅黑"/>
              </a:rPr>
              <a:t>分配的内存地址位于内核空间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使用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vmalloc 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分别分配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8KB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、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1MB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、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64MB</a:t>
            </a:r>
            <a:r>
              <a:rPr sz="1200" spc="-5" dirty="0">
                <a:solidFill>
                  <a:srgbClr val="333333"/>
                </a:solidFill>
                <a:latin typeface="微软雅黑"/>
                <a:cs typeface="微软雅黑"/>
              </a:rPr>
              <a:t>的内存，打印指针地址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239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335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68449" y="268357"/>
            <a:ext cx="2583815" cy="78676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 marR="5080">
              <a:lnSpc>
                <a:spcPct val="156300"/>
              </a:lnSpc>
              <a:spcBef>
                <a:spcPts val="15"/>
              </a:spcBef>
            </a:pPr>
            <a:r>
              <a:rPr sz="1000" dirty="0">
                <a:latin typeface="Consolas"/>
                <a:cs typeface="Consolas"/>
              </a:rPr>
              <a:t>cd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/root/MemoryManagement/task2 </a:t>
            </a:r>
            <a:r>
              <a:rPr sz="1000" spc="-20" dirty="0">
                <a:latin typeface="Consolas"/>
                <a:cs typeface="Consolas"/>
              </a:rPr>
              <a:t>make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287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68449" y="6516757"/>
            <a:ext cx="1586865" cy="5486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insmod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vmalloc.ko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35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8642" y="388481"/>
            <a:ext cx="1236345" cy="666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latin typeface="Consolas"/>
                <a:cs typeface="Consolas"/>
              </a:rPr>
              <a:t>dmesg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|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tail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-n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spc="-50" dirty="0">
                <a:latin typeface="Consolas"/>
                <a:cs typeface="Consolas"/>
              </a:rPr>
              <a:t>4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56300"/>
              </a:lnSpc>
              <a:spcBef>
                <a:spcPts val="75"/>
              </a:spcBef>
            </a:pPr>
            <a:r>
              <a:rPr sz="1000" dirty="0">
                <a:latin typeface="Consolas"/>
                <a:cs typeface="Consolas"/>
              </a:rPr>
              <a:t>rmmod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vmalloc </a:t>
            </a:r>
            <a:r>
              <a:rPr sz="1000" dirty="0">
                <a:latin typeface="Consolas"/>
                <a:cs typeface="Consolas"/>
              </a:rPr>
              <a:t>dmesg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|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tail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-n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spc="-50" dirty="0">
                <a:latin typeface="Consolas"/>
                <a:cs typeface="Consolas"/>
              </a:rPr>
              <a:t>5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287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58850" y="6551929"/>
            <a:ext cx="352234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9600">
              <a:lnSpc>
                <a:spcPct val="135400"/>
              </a:lnSpc>
              <a:spcBef>
                <a:spcPts val="100"/>
              </a:spcBef>
            </a:pPr>
            <a:r>
              <a:rPr sz="1200" spc="-30" dirty="0">
                <a:solidFill>
                  <a:srgbClr val="333333"/>
                </a:solidFill>
                <a:latin typeface="微软雅黑"/>
                <a:cs typeface="微软雅黑"/>
              </a:rPr>
              <a:t>可知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vmalloc</a:t>
            </a:r>
            <a:r>
              <a:rPr sz="12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33"/>
                </a:solidFill>
                <a:latin typeface="微软雅黑"/>
                <a:cs typeface="微软雅黑"/>
              </a:rPr>
              <a:t>分配的内存地址位于内核空间</a:t>
            </a: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进程管理实验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91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32925" y="45811"/>
                </a:lnTo>
                <a:lnTo>
                  <a:pt x="30007" y="47019"/>
                </a:lnTo>
                <a:lnTo>
                  <a:pt x="26970" y="47624"/>
                </a:lnTo>
                <a:lnTo>
                  <a:pt x="23812" y="47624"/>
                </a:lnTo>
                <a:lnTo>
                  <a:pt x="20654" y="47624"/>
                </a:lnTo>
                <a:lnTo>
                  <a:pt x="17617" y="47019"/>
                </a:lnTo>
                <a:lnTo>
                  <a:pt x="14699" y="45811"/>
                </a:lnTo>
                <a:lnTo>
                  <a:pt x="11782" y="44603"/>
                </a:lnTo>
                <a:lnTo>
                  <a:pt x="0" y="26969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0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4" y="20654"/>
                </a:lnTo>
                <a:lnTo>
                  <a:pt x="47625" y="23812"/>
                </a:lnTo>
                <a:close/>
              </a:path>
            </a:pathLst>
          </a:custGeom>
          <a:ln w="9524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39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287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335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1200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3649" y="303529"/>
            <a:ext cx="2959735" cy="999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1567180" indent="-304800">
              <a:lnSpc>
                <a:spcPct val="1354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创建并运行内核线程</a:t>
            </a: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667385" marR="5080">
              <a:lnSpc>
                <a:spcPts val="1950"/>
              </a:lnSpc>
            </a:pPr>
            <a:r>
              <a:rPr sz="1000" dirty="0">
                <a:latin typeface="Consolas"/>
                <a:cs typeface="Consolas"/>
              </a:rPr>
              <a:t>cd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/root/ProcessManagement/task1 </a:t>
            </a:r>
            <a:r>
              <a:rPr sz="1000" spc="-20" dirty="0">
                <a:latin typeface="Consolas"/>
                <a:cs typeface="Consolas"/>
              </a:rPr>
              <a:t>make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287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68449" y="6516757"/>
            <a:ext cx="1586865" cy="5486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insmod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kthread.ko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35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8642" y="388481"/>
            <a:ext cx="1236345" cy="666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latin typeface="Consolas"/>
                <a:cs typeface="Consolas"/>
              </a:rPr>
              <a:t>dmesg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|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tail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-n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spc="-50" dirty="0">
                <a:latin typeface="Consolas"/>
                <a:cs typeface="Consolas"/>
              </a:rPr>
              <a:t>5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56300"/>
              </a:lnSpc>
              <a:spcBef>
                <a:spcPts val="75"/>
              </a:spcBef>
            </a:pPr>
            <a:r>
              <a:rPr sz="1000" dirty="0">
                <a:latin typeface="Consolas"/>
                <a:cs typeface="Consolas"/>
              </a:rPr>
              <a:t>rmmod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kthread </a:t>
            </a:r>
            <a:r>
              <a:rPr sz="1000" dirty="0">
                <a:latin typeface="Consolas"/>
                <a:cs typeface="Consolas"/>
              </a:rPr>
              <a:t>dmesg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|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tail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-n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spc="-50" dirty="0">
                <a:latin typeface="Consolas"/>
                <a:cs typeface="Consolas"/>
              </a:rPr>
              <a:t>5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239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87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3649" y="6551929"/>
            <a:ext cx="226123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354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打印输出当前系统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CPU</a:t>
            </a:r>
            <a:r>
              <a:rPr sz="12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333333"/>
                </a:solidFill>
                <a:latin typeface="微软雅黑"/>
                <a:cs typeface="微软雅黑"/>
              </a:rPr>
              <a:t>负载情况</a:t>
            </a: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35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8642" y="388481"/>
            <a:ext cx="2305050" cy="4286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latin typeface="Consolas"/>
                <a:cs typeface="Consolas"/>
              </a:rPr>
              <a:t>cd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/root/ProcessManagement/task2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spc="-20" dirty="0">
                <a:latin typeface="Consolas"/>
                <a:cs typeface="Consolas"/>
              </a:rPr>
              <a:t>make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87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847725"/>
            <a:ext cx="8754070" cy="624839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335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1200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3549" y="14382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68449" y="268357"/>
            <a:ext cx="1871345" cy="128206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 marR="5080">
              <a:lnSpc>
                <a:spcPct val="156300"/>
              </a:lnSpc>
              <a:spcBef>
                <a:spcPts val="15"/>
              </a:spcBef>
            </a:pPr>
            <a:r>
              <a:rPr sz="1000" dirty="0">
                <a:latin typeface="Consolas"/>
                <a:cs typeface="Consolas"/>
              </a:rPr>
              <a:t>insmod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cpu_loadavg.ko </a:t>
            </a:r>
            <a:r>
              <a:rPr sz="1000" dirty="0">
                <a:latin typeface="Consolas"/>
                <a:cs typeface="Consolas"/>
              </a:rPr>
              <a:t>dmesg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|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tail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-n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spc="-50" dirty="0">
                <a:latin typeface="Consolas"/>
                <a:cs typeface="Consolas"/>
              </a:rPr>
              <a:t>2</a:t>
            </a:r>
            <a:endParaRPr sz="1000">
              <a:latin typeface="Consolas"/>
              <a:cs typeface="Consolas"/>
            </a:endParaRPr>
          </a:p>
          <a:p>
            <a:pPr marL="362585" marR="289560">
              <a:lnSpc>
                <a:spcPct val="162500"/>
              </a:lnSpc>
            </a:pPr>
            <a:r>
              <a:rPr sz="1000" dirty="0">
                <a:latin typeface="Consolas"/>
                <a:cs typeface="Consolas"/>
              </a:rPr>
              <a:t>rmmod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cpu_loadavg </a:t>
            </a:r>
            <a:r>
              <a:rPr sz="1000" dirty="0">
                <a:latin typeface="Consolas"/>
                <a:cs typeface="Consolas"/>
              </a:rPr>
              <a:t>dmesg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|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tail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-n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spc="-50" dirty="0">
                <a:latin typeface="Consolas"/>
                <a:cs typeface="Consolas"/>
              </a:rPr>
              <a:t>3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239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87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3649" y="6551929"/>
            <a:ext cx="3260090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35400"/>
              </a:lnSpc>
              <a:spcBef>
                <a:spcPts val="100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打印输出当前处于运行状态的进程的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PID</a:t>
            </a:r>
            <a:r>
              <a:rPr sz="1200" spc="-6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33"/>
                </a:solidFill>
                <a:latin typeface="微软雅黑"/>
                <a:cs typeface="微软雅黑"/>
              </a:rPr>
              <a:t>和名字</a:t>
            </a: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35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8642" y="388481"/>
            <a:ext cx="2305050" cy="4286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latin typeface="Consolas"/>
                <a:cs typeface="Consolas"/>
              </a:rPr>
              <a:t>cd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/root/ProcessManagement/task3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spc="-20" dirty="0">
                <a:latin typeface="Consolas"/>
                <a:cs typeface="Consolas"/>
              </a:rPr>
              <a:t>make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87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847725"/>
            <a:ext cx="8754070" cy="624839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335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1200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68449" y="268357"/>
            <a:ext cx="1942464" cy="103441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 marR="5080">
              <a:lnSpc>
                <a:spcPct val="156300"/>
              </a:lnSpc>
              <a:spcBef>
                <a:spcPts val="15"/>
              </a:spcBef>
            </a:pPr>
            <a:r>
              <a:rPr sz="1000" dirty="0">
                <a:latin typeface="Consolas"/>
                <a:cs typeface="Consolas"/>
              </a:rPr>
              <a:t>insmod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process_info.ko </a:t>
            </a:r>
            <a:r>
              <a:rPr sz="1000" dirty="0">
                <a:latin typeface="Consolas"/>
                <a:cs typeface="Consolas"/>
              </a:rPr>
              <a:t>dmesg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|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tail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-n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spc="-50" dirty="0">
                <a:latin typeface="Consolas"/>
                <a:cs typeface="Consolas"/>
              </a:rPr>
              <a:t>3</a:t>
            </a:r>
            <a:endParaRPr sz="1000">
              <a:latin typeface="Consolas"/>
              <a:cs typeface="Consolas"/>
            </a:endParaRPr>
          </a:p>
          <a:p>
            <a:pPr marL="362585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latin typeface="Consolas"/>
                <a:cs typeface="Consolas"/>
              </a:rPr>
              <a:t>rmmod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process_info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1239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87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3649" y="6551929"/>
            <a:ext cx="2202180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35400"/>
              </a:lnSpc>
              <a:spcBef>
                <a:spcPts val="100"/>
              </a:spcBef>
            </a:pPr>
            <a:r>
              <a:rPr sz="1200" spc="-20" dirty="0">
                <a:solidFill>
                  <a:srgbClr val="333333"/>
                </a:solidFill>
                <a:latin typeface="微软雅黑"/>
                <a:cs typeface="微软雅黑"/>
              </a:rPr>
              <a:t>使用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cgroup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实现限制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CPU</a:t>
            </a:r>
            <a:r>
              <a:rPr sz="1200" spc="-2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核数指令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35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8642" y="388481"/>
            <a:ext cx="3373120" cy="33528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latin typeface="Consolas"/>
                <a:cs typeface="Consolas"/>
              </a:rPr>
              <a:t>mkdir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/cgroup</a:t>
            </a:r>
            <a:endParaRPr sz="1000">
              <a:latin typeface="Consolas"/>
              <a:cs typeface="Consolas"/>
            </a:endParaRPr>
          </a:p>
          <a:p>
            <a:pPr marL="12700" marR="1358265">
              <a:lnSpc>
                <a:spcPct val="156300"/>
              </a:lnSpc>
              <a:spcBef>
                <a:spcPts val="75"/>
              </a:spcBef>
            </a:pPr>
            <a:r>
              <a:rPr sz="1000" dirty="0">
                <a:latin typeface="Consolas"/>
                <a:cs typeface="Consolas"/>
              </a:rPr>
              <a:t>mount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-t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tmpfs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tmpfs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/cgroup </a:t>
            </a:r>
            <a:r>
              <a:rPr sz="1000" dirty="0">
                <a:latin typeface="Consolas"/>
                <a:cs typeface="Consolas"/>
              </a:rPr>
              <a:t>cd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/cgroup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latin typeface="Consolas"/>
                <a:cs typeface="Consolas"/>
              </a:rPr>
              <a:t>mkdir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cpuset</a:t>
            </a:r>
            <a:endParaRPr sz="1000">
              <a:latin typeface="Consolas"/>
              <a:cs typeface="Consolas"/>
            </a:endParaRPr>
          </a:p>
          <a:p>
            <a:pPr marL="12700" marR="5080">
              <a:lnSpc>
                <a:spcPct val="156300"/>
              </a:lnSpc>
              <a:spcBef>
                <a:spcPts val="70"/>
              </a:spcBef>
            </a:pPr>
            <a:r>
              <a:rPr sz="1000" dirty="0">
                <a:latin typeface="Consolas"/>
                <a:cs typeface="Consolas"/>
              </a:rPr>
              <a:t>mount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-t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cgroup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-o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cpuset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cpuset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/cgroup/cpuset </a:t>
            </a:r>
            <a:r>
              <a:rPr sz="1000" dirty="0">
                <a:latin typeface="Consolas"/>
                <a:cs typeface="Consolas"/>
              </a:rPr>
              <a:t>cd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cpuset</a:t>
            </a:r>
            <a:endParaRPr sz="1000">
              <a:latin typeface="Consolas"/>
              <a:cs typeface="Consolas"/>
            </a:endParaRPr>
          </a:p>
          <a:p>
            <a:pPr marL="12700" marR="2355215">
              <a:lnSpc>
                <a:spcPct val="156300"/>
              </a:lnSpc>
              <a:spcBef>
                <a:spcPts val="75"/>
              </a:spcBef>
            </a:pPr>
            <a:r>
              <a:rPr sz="1000" dirty="0">
                <a:latin typeface="Consolas"/>
                <a:cs typeface="Consolas"/>
              </a:rPr>
              <a:t>mkdir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mycpuset </a:t>
            </a:r>
            <a:r>
              <a:rPr sz="1000" dirty="0">
                <a:latin typeface="Consolas"/>
                <a:cs typeface="Consolas"/>
              </a:rPr>
              <a:t>cd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mycpuset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latin typeface="Consolas"/>
                <a:cs typeface="Consolas"/>
              </a:rPr>
              <a:t>cat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cpuset.mems</a:t>
            </a:r>
            <a:endParaRPr sz="1000">
              <a:latin typeface="Consolas"/>
              <a:cs typeface="Consolas"/>
            </a:endParaRPr>
          </a:p>
          <a:p>
            <a:pPr marL="12700" marR="1927860">
              <a:lnSpc>
                <a:spcPct val="156300"/>
              </a:lnSpc>
              <a:spcBef>
                <a:spcPts val="75"/>
              </a:spcBef>
            </a:pPr>
            <a:r>
              <a:rPr sz="1000" dirty="0">
                <a:latin typeface="Consolas"/>
                <a:cs typeface="Consolas"/>
              </a:rPr>
              <a:t>echo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0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&gt;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cpuset.mems </a:t>
            </a:r>
            <a:r>
              <a:rPr sz="1000" dirty="0">
                <a:latin typeface="Consolas"/>
                <a:cs typeface="Consolas"/>
              </a:rPr>
              <a:t>cat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cpuset.cpus</a:t>
            </a:r>
            <a:endParaRPr sz="1000">
              <a:latin typeface="Consolas"/>
              <a:cs typeface="Consolas"/>
            </a:endParaRPr>
          </a:p>
          <a:p>
            <a:pPr marL="12700" marR="1785620">
              <a:lnSpc>
                <a:spcPct val="156300"/>
              </a:lnSpc>
              <a:spcBef>
                <a:spcPts val="75"/>
              </a:spcBef>
            </a:pPr>
            <a:r>
              <a:rPr sz="1000" dirty="0">
                <a:latin typeface="Consolas"/>
                <a:cs typeface="Consolas"/>
              </a:rPr>
              <a:t>echo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0-2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&gt;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cpuset.cpus </a:t>
            </a:r>
            <a:r>
              <a:rPr sz="1000" dirty="0">
                <a:latin typeface="Consolas"/>
                <a:cs typeface="Consolas"/>
              </a:rPr>
              <a:t>cat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cpuset.mems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latin typeface="Consolas"/>
                <a:cs typeface="Consolas"/>
              </a:rPr>
              <a:t>cat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cpuset.cpus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3549" y="1200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3549" y="14382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3549" y="16859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33549" y="19335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33549" y="21716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33549" y="24193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33549" y="26574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33549" y="290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33549" y="315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33549" y="33908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33549" y="36385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287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68449" y="6516757"/>
            <a:ext cx="2654935" cy="5486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cd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/root/ProcessManagement/task4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35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8642" y="388481"/>
            <a:ext cx="2162175" cy="4286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latin typeface="Consolas"/>
                <a:cs typeface="Consolas"/>
              </a:rPr>
              <a:t>gcc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while_long.c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-o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while_long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latin typeface="Consolas"/>
                <a:cs typeface="Consolas"/>
              </a:rPr>
              <a:t>yum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install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libcgroup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287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847725"/>
            <a:ext cx="8754070" cy="624839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68449" y="268357"/>
            <a:ext cx="589280" cy="5486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spc="-25" dirty="0">
                <a:latin typeface="Consolas"/>
                <a:cs typeface="Consolas"/>
              </a:rPr>
              <a:t>top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87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847725"/>
            <a:ext cx="8754070" cy="624839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335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68449" y="268357"/>
            <a:ext cx="1586865" cy="78676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taskset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-p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10296</a:t>
            </a:r>
            <a:endParaRPr sz="1000">
              <a:latin typeface="Consolas"/>
              <a:cs typeface="Consolas"/>
            </a:endParaRPr>
          </a:p>
          <a:p>
            <a:pPr marL="362585">
              <a:lnSpc>
                <a:spcPct val="100000"/>
              </a:lnSpc>
              <a:spcBef>
                <a:spcPts val="675"/>
              </a:spcBef>
            </a:pPr>
            <a:r>
              <a:rPr sz="1000" dirty="0">
                <a:latin typeface="Consolas"/>
                <a:cs typeface="Consolas"/>
              </a:rPr>
              <a:t>taskset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-pc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10296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287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3649" y="6551929"/>
            <a:ext cx="2210435" cy="52070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R="17780" algn="ctr">
              <a:lnSpc>
                <a:spcPct val="100000"/>
              </a:lnSpc>
              <a:spcBef>
                <a:spcPts val="610"/>
              </a:spcBef>
            </a:pPr>
            <a:r>
              <a:rPr sz="1200" spc="-5" dirty="0">
                <a:solidFill>
                  <a:srgbClr val="333333"/>
                </a:solidFill>
                <a:latin typeface="微软雅黑"/>
                <a:cs typeface="微软雅黑"/>
              </a:rPr>
              <a:t>测试限制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cpu </a:t>
            </a:r>
            <a:r>
              <a:rPr sz="1200" spc="-15" dirty="0">
                <a:solidFill>
                  <a:srgbClr val="333333"/>
                </a:solidFill>
                <a:latin typeface="微软雅黑"/>
                <a:cs typeface="微软雅黑"/>
              </a:rPr>
              <a:t>核数成功</a:t>
            </a:r>
            <a:endParaRPr sz="12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使用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cgroup </a:t>
            </a: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实现不允许访问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U</a:t>
            </a:r>
            <a:r>
              <a:rPr sz="1200" spc="-50" dirty="0">
                <a:solidFill>
                  <a:srgbClr val="333333"/>
                </a:solidFill>
                <a:latin typeface="微软雅黑"/>
                <a:cs typeface="微软雅黑"/>
              </a:rPr>
              <a:t>盘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239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68449" y="268357"/>
            <a:ext cx="945515" cy="5486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fdisk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</a:t>
            </a:r>
            <a:r>
              <a:rPr sz="1000" spc="-50" dirty="0">
                <a:latin typeface="Consolas"/>
                <a:cs typeface="Consolas"/>
              </a:rPr>
              <a:t>l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287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847725"/>
            <a:ext cx="8754070" cy="6248399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335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1200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68449" y="268357"/>
            <a:ext cx="1800225" cy="103441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 marR="360680">
              <a:lnSpc>
                <a:spcPct val="156300"/>
              </a:lnSpc>
              <a:spcBef>
                <a:spcPts val="15"/>
              </a:spcBef>
            </a:pPr>
            <a:r>
              <a:rPr sz="1000" dirty="0">
                <a:latin typeface="Consolas"/>
                <a:cs typeface="Consolas"/>
              </a:rPr>
              <a:t>ls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-l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/dev/sdb2 </a:t>
            </a:r>
            <a:r>
              <a:rPr sz="1000" dirty="0">
                <a:latin typeface="Consolas"/>
                <a:cs typeface="Consolas"/>
              </a:rPr>
              <a:t>mkdir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20" dirty="0">
                <a:latin typeface="Consolas"/>
                <a:cs typeface="Consolas"/>
              </a:rPr>
              <a:t>/usb</a:t>
            </a:r>
            <a:endParaRPr sz="1000">
              <a:latin typeface="Consolas"/>
              <a:cs typeface="Consolas"/>
            </a:endParaRPr>
          </a:p>
          <a:p>
            <a:pPr marL="362585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latin typeface="Consolas"/>
                <a:cs typeface="Consolas"/>
              </a:rPr>
              <a:t>mount</a:t>
            </a:r>
            <a:r>
              <a:rPr sz="1000" spc="4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/dev/sdb2</a:t>
            </a:r>
            <a:r>
              <a:rPr sz="1000" spc="50" dirty="0">
                <a:latin typeface="Consolas"/>
                <a:cs typeface="Consolas"/>
              </a:rPr>
              <a:t> </a:t>
            </a:r>
            <a:r>
              <a:rPr sz="1000" spc="-20" dirty="0">
                <a:latin typeface="Consolas"/>
                <a:cs typeface="Consolas"/>
              </a:rPr>
              <a:t>/usb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287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68449" y="6516757"/>
            <a:ext cx="1159510" cy="5486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cd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/cgroup/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35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18642" y="388481"/>
            <a:ext cx="4156710" cy="1400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dirty="0">
                <a:latin typeface="Consolas"/>
                <a:cs typeface="Consolas"/>
              </a:rPr>
              <a:t>mkdir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devices</a:t>
            </a:r>
            <a:endParaRPr sz="1000">
              <a:latin typeface="Consolas"/>
              <a:cs typeface="Consolas"/>
            </a:endParaRPr>
          </a:p>
          <a:p>
            <a:pPr marL="12700" marR="574675">
              <a:lnSpc>
                <a:spcPct val="156300"/>
              </a:lnSpc>
              <a:spcBef>
                <a:spcPts val="75"/>
              </a:spcBef>
            </a:pPr>
            <a:r>
              <a:rPr sz="1000" dirty="0">
                <a:latin typeface="Consolas"/>
                <a:cs typeface="Consolas"/>
              </a:rPr>
              <a:t>mount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-t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cgroup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-o</a:t>
            </a:r>
            <a:r>
              <a:rPr sz="1000" spc="4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devices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devices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/cgroup/devices </a:t>
            </a:r>
            <a:r>
              <a:rPr sz="1000" dirty="0">
                <a:latin typeface="Consolas"/>
                <a:cs typeface="Consolas"/>
              </a:rPr>
              <a:t>cd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/cgroup/devices</a:t>
            </a:r>
            <a:endParaRPr sz="1000">
              <a:latin typeface="Consolas"/>
              <a:cs typeface="Consolas"/>
            </a:endParaRPr>
          </a:p>
          <a:p>
            <a:pPr marL="12700" marR="3067050">
              <a:lnSpc>
                <a:spcPct val="162500"/>
              </a:lnSpc>
            </a:pPr>
            <a:r>
              <a:rPr sz="1000" dirty="0">
                <a:latin typeface="Consolas"/>
                <a:cs typeface="Consolas"/>
              </a:rPr>
              <a:t>mkdir</a:t>
            </a:r>
            <a:r>
              <a:rPr sz="1000" spc="3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mydevices </a:t>
            </a:r>
            <a:r>
              <a:rPr sz="1000" dirty="0">
                <a:latin typeface="Consolas"/>
                <a:cs typeface="Consolas"/>
              </a:rPr>
              <a:t>cd</a:t>
            </a:r>
            <a:r>
              <a:rPr sz="1000" spc="2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mydevices</a:t>
            </a:r>
            <a:endParaRPr sz="1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000" dirty="0">
                <a:latin typeface="Consolas"/>
                <a:cs typeface="Consolas"/>
              </a:rPr>
              <a:t>echo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'a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8:18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rwm'</a:t>
            </a:r>
            <a:r>
              <a:rPr sz="1000" spc="3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&gt;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/cgroup/devices/mydevices/devices.deny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33549" y="714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952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3549" y="1200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3549" y="14382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3549" y="16859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287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35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68449" y="6516757"/>
            <a:ext cx="5859780" cy="54864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200" spc="-25" dirty="0">
                <a:solidFill>
                  <a:srgbClr val="333333"/>
                </a:solidFill>
                <a:latin typeface="微软雅黑"/>
                <a:cs typeface="微软雅黑"/>
              </a:rPr>
              <a:t>指令</a:t>
            </a:r>
            <a:endParaRPr sz="1200">
              <a:latin typeface="微软雅黑"/>
              <a:cs typeface="微软雅黑"/>
            </a:endParaRPr>
          </a:p>
          <a:p>
            <a:pPr marL="362585">
              <a:lnSpc>
                <a:spcPct val="100000"/>
              </a:lnSpc>
              <a:spcBef>
                <a:spcPts val="690"/>
              </a:spcBef>
            </a:pPr>
            <a:r>
              <a:rPr sz="1000" dirty="0">
                <a:latin typeface="Consolas"/>
                <a:cs typeface="Consolas"/>
              </a:rPr>
              <a:t>cgexec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-g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devices:mydevices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dd</a:t>
            </a:r>
            <a:r>
              <a:rPr sz="1000" spc="6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if=/dev/sdb2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of=/root/temfile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bs=1</a:t>
            </a:r>
            <a:r>
              <a:rPr sz="1000" spc="5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count=12800</a:t>
            </a:r>
            <a:endParaRPr sz="1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49" y="46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149" y="361950"/>
            <a:ext cx="8754070" cy="62483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28749" y="6715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68449" y="6551929"/>
            <a:ext cx="2583815" cy="52070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200" spc="-5" dirty="0">
                <a:solidFill>
                  <a:srgbClr val="333333"/>
                </a:solidFill>
                <a:latin typeface="微软雅黑"/>
                <a:cs typeface="微软雅黑"/>
              </a:rPr>
              <a:t>可见终端显示 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Operation not </a:t>
            </a:r>
            <a:r>
              <a:rPr sz="1200" spc="-10" dirty="0">
                <a:solidFill>
                  <a:srgbClr val="333333"/>
                </a:solidFill>
                <a:latin typeface="Arial"/>
                <a:cs typeface="Arial"/>
              </a:rPr>
              <a:t>permitted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200" dirty="0">
                <a:solidFill>
                  <a:srgbClr val="333333"/>
                </a:solidFill>
                <a:latin typeface="微软雅黑"/>
                <a:cs typeface="微软雅黑"/>
              </a:rPr>
              <a:t>说明不允许访问</a:t>
            </a:r>
            <a:r>
              <a:rPr sz="1200" dirty="0">
                <a:solidFill>
                  <a:srgbClr val="333333"/>
                </a:solidFill>
                <a:latin typeface="Arial"/>
                <a:cs typeface="Arial"/>
              </a:rPr>
              <a:t>u</a:t>
            </a:r>
            <a:r>
              <a:rPr sz="1200" spc="-10" dirty="0">
                <a:solidFill>
                  <a:srgbClr val="333333"/>
                </a:solidFill>
                <a:latin typeface="微软雅黑"/>
                <a:cs typeface="微软雅黑"/>
              </a:rPr>
              <a:t>盘设置成功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28749" y="6962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4" y="47624"/>
                </a:moveTo>
                <a:lnTo>
                  <a:pt x="0" y="47624"/>
                </a:lnTo>
                <a:lnTo>
                  <a:pt x="0" y="0"/>
                </a:lnTo>
                <a:lnTo>
                  <a:pt x="47624" y="0"/>
                </a:lnTo>
                <a:lnTo>
                  <a:pt x="47624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7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574</Words>
  <Application>Microsoft Office PowerPoint</Application>
  <PresentationFormat>自定义</PresentationFormat>
  <Paragraphs>125</Paragraphs>
  <Slides>64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69" baseType="lpstr">
      <vt:lpstr>微软雅黑</vt:lpstr>
      <vt:lpstr>新宋体</vt:lpstr>
      <vt:lpstr>Arial</vt:lpstr>
      <vt:lpstr>Consolas</vt:lpstr>
      <vt:lpstr>Office Theme</vt:lpstr>
      <vt:lpstr>OpenEuler 实验报告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openEuler 实验报告</dc:title>
  <cp:lastModifiedBy>胡炜康</cp:lastModifiedBy>
  <cp:revision>1</cp:revision>
  <dcterms:created xsi:type="dcterms:W3CDTF">2025-05-29T14:44:47Z</dcterms:created>
  <dcterms:modified xsi:type="dcterms:W3CDTF">2025-07-10T11:31:20Z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2025-05-29T00:00:00Z</vt:filetime>
  </property>
  <property fmtid="{D5CDD505-2E9C-101B-9397-08002B2CF9AE}" pid="3" name="Creator">
    <vt:lpwstr>Mozilla/5.0 (Windows NT 10.0; Win64; x64) AppleWebKit/537.36 (KHTML, like Gecko) Chrome/136.0.0.0 Safari/537.36</vt:lpwstr>
  </property>
  <property fmtid="{D5CDD505-2E9C-101B-9397-08002B2CF9AE}" pid="4" name="LastSaved">
    <vt:filetime>2025-05-29T00:00:00Z</vt:filetime>
  </property>
  <property fmtid="{D5CDD505-2E9C-101B-9397-08002B2CF9AE}" pid="5" name="Producer">
    <vt:lpwstr>Skia/PDF m136</vt:lpwstr>
  </property>
</Properties>
</file>